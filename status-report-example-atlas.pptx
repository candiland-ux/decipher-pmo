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8288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Atlas — Security Modernization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64008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Status Report  |  Reporting Period: June 9–13, 2026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161727" y="201168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E2F0D9"/>
          </a:solidFill>
          <a:ln w="9525">
            <a:solidFill>
              <a:srgbClr val="1E7E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61727" y="2011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18527" y="64008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Manager: Casey Morrison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84048" y="932688"/>
            <a:ext cx="2182307" cy="548640"/>
          </a:xfrm>
          <a:prstGeom prst="rect">
            <a:avLst/>
          </a:prstGeom>
          <a:solidFill>
            <a:srgbClr val="FFF2CC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978408"/>
            <a:ext cx="18165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HEALTH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75488" y="1152144"/>
            <a:ext cx="177082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292035" y="1133856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694371" y="932688"/>
            <a:ext cx="2182307" cy="548640"/>
          </a:xfrm>
          <a:prstGeom prst="rect">
            <a:avLst/>
          </a:prstGeom>
          <a:solidFill>
            <a:srgbClr val="E8F3EC"/>
          </a:solidFill>
          <a:ln w="9525">
            <a:solidFill>
              <a:srgbClr val="1E7E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5811" y="978408"/>
            <a:ext cx="18165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785811" y="1152144"/>
            <a:ext cx="177082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02358" y="1133856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04694" y="932688"/>
            <a:ext cx="2182307" cy="548640"/>
          </a:xfrm>
          <a:prstGeom prst="rect">
            <a:avLst/>
          </a:prstGeom>
          <a:solidFill>
            <a:srgbClr val="FFF2CC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96134" y="978408"/>
            <a:ext cx="18165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096134" y="1152144"/>
            <a:ext cx="177082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912681" y="1133856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315017" y="932688"/>
            <a:ext cx="2182307" cy="548640"/>
          </a:xfrm>
          <a:prstGeom prst="rect">
            <a:avLst/>
          </a:prstGeom>
          <a:solidFill>
            <a:srgbClr val="FFF2CC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457" y="978408"/>
            <a:ext cx="18165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7406457" y="1152144"/>
            <a:ext cx="177082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223004" y="1133856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625340" y="932688"/>
            <a:ext cx="2182307" cy="548640"/>
          </a:xfrm>
          <a:prstGeom prst="rect">
            <a:avLst/>
          </a:prstGeom>
          <a:solidFill>
            <a:srgbClr val="E8F3EC"/>
          </a:solidFill>
          <a:ln w="9525">
            <a:solidFill>
              <a:srgbClr val="1E7E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16780" y="978408"/>
            <a:ext cx="18165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9716780" y="1152144"/>
            <a:ext cx="177082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533327" y="1133856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332927" y="153619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vs prior period:  ▲ improved   ◆ steady   ▼ declined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84048" y="175564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HEALTH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84048" y="1938528"/>
            <a:ext cx="1517904" cy="256032"/>
          </a:xfrm>
          <a:prstGeom prst="roundRect">
            <a:avLst>
              <a:gd name="adj" fmla="val 50000"/>
            </a:avLst>
          </a:prstGeom>
          <a:solidFill>
            <a:srgbClr val="E8F3EC"/>
          </a:solidFill>
          <a:ln w="9525">
            <a:solidFill>
              <a:srgbClr val="1E7E3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1938528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ZTNA · ON TRACK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011680" y="1938528"/>
            <a:ext cx="1517904" cy="256032"/>
          </a:xfrm>
          <a:prstGeom prst="roundRect">
            <a:avLst>
              <a:gd name="adj" fmla="val 50000"/>
            </a:avLst>
          </a:prstGeom>
          <a:solidFill>
            <a:srgbClr val="FFF2CC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11680" y="1938528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· AT RISK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639312" y="1938528"/>
            <a:ext cx="1517904" cy="256032"/>
          </a:xfrm>
          <a:prstGeom prst="roundRect">
            <a:avLst>
              <a:gd name="adj" fmla="val 50000"/>
            </a:avLst>
          </a:prstGeom>
          <a:solidFill>
            <a:srgbClr val="E8F3EC"/>
          </a:solidFill>
          <a:ln w="9525">
            <a:solidFill>
              <a:srgbClr val="1E7E3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39312" y="1938528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 · ON TRACK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06440" y="175564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806440" y="1938528"/>
            <a:ext cx="1938528" cy="256032"/>
          </a:xfrm>
          <a:prstGeom prst="roundRect">
            <a:avLst>
              <a:gd name="adj" fmla="val 50000"/>
            </a:avLst>
          </a:prstGeom>
          <a:solidFill>
            <a:srgbClr val="E8F3EC"/>
          </a:solidFill>
          <a:ln w="9525">
            <a:solidFill>
              <a:srgbClr val="1E7E3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06440" y="193852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baseline · May 29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854696" y="1938528"/>
            <a:ext cx="1938528" cy="256032"/>
          </a:xfrm>
          <a:prstGeom prst="roundRect">
            <a:avLst>
              <a:gd name="adj" fmla="val 50000"/>
            </a:avLst>
          </a:prstGeom>
          <a:solidFill>
            <a:srgbClr val="FFF2CC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54696" y="193852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 recovery gate · Jul 22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9902952" y="1938528"/>
            <a:ext cx="1938528" cy="256032"/>
          </a:xfrm>
          <a:prstGeom prst="roundRect">
            <a:avLst>
              <a:gd name="adj" fmla="val 50000"/>
            </a:avLst>
          </a:prstGeom>
          <a:solidFill>
            <a:srgbClr val="F6F6F3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902952" y="193852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go-live gate · Oct 12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84048" y="2304288"/>
            <a:ext cx="5574640" cy="1298448"/>
          </a:xfrm>
          <a:prstGeom prst="rect">
            <a:avLst/>
          </a:prstGeom>
          <a:solidFill>
            <a:srgbClr val="F6F6F3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1208" y="2377440"/>
            <a:ext cx="530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21208" y="2578608"/>
            <a:ext cx="530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remains on track for the Q4 2026 delivery commitment. Two of three projects are executing to plan; MFA is trending yellow on schedule with recovery actions in flight. No change to scope, budget, or the decision calendar.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233008" y="2304288"/>
            <a:ext cx="5574640" cy="1298448"/>
          </a:xfrm>
          <a:prstGeom prst="rect">
            <a:avLst/>
          </a:prstGeom>
          <a:solidFill>
            <a:srgbClr val="F6F6F3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70168" y="2377440"/>
            <a:ext cx="530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370168" y="2578608"/>
            <a:ext cx="530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integrated schedule baselined and approved by steering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data readiness assessment completed across all sources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risk acceptance framework ratified with sponsors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84048" y="3712464"/>
            <a:ext cx="5574640" cy="1170432"/>
          </a:xfrm>
          <a:prstGeom prst="rect">
            <a:avLst/>
          </a:prstGeom>
          <a:solidFill>
            <a:srgbClr val="F6F6F3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1208" y="3785616"/>
            <a:ext cx="530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21208" y="3986784"/>
            <a:ext cx="530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checkpoint on MFA schedule recovery (week of Jun 20)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cross-project cutover sequencing for Q4 go-live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change readiness survey for wave 1 stakeholders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233008" y="3712464"/>
            <a:ext cx="5574640" cy="1170432"/>
          </a:xfrm>
          <a:prstGeom prst="rect">
            <a:avLst/>
          </a:prstGeom>
          <a:solidFill>
            <a:srgbClr val="F6F6F3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70168" y="3785616"/>
            <a:ext cx="530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DEPENDENCIES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10664647" y="378561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· need-by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6370168" y="4041648"/>
            <a:ext cx="841248" cy="1828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55" name="Text 53"/>
          <p:cNvSpPr/>
          <p:nvPr/>
        </p:nvSpPr>
        <p:spPr>
          <a:xfrm>
            <a:off x="6370168" y="404164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7293712" y="4069080"/>
            <a:ext cx="100584" cy="10058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57" name="Text 55"/>
          <p:cNvSpPr/>
          <p:nvPr/>
        </p:nvSpPr>
        <p:spPr>
          <a:xfrm>
            <a:off x="7467448" y="3995928"/>
            <a:ext cx="356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engineer shared by IGA and MFA workstreams</a:t>
            </a:r>
            <a:endParaRPr lang="en-US" sz="820" dirty="0"/>
          </a:p>
        </p:txBody>
      </p:sp>
      <p:sp>
        <p:nvSpPr>
          <p:cNvPr id="58" name="Text 56"/>
          <p:cNvSpPr/>
          <p:nvPr/>
        </p:nvSpPr>
        <p:spPr>
          <a:xfrm>
            <a:off x="11076127" y="399592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</a:t>
            </a:r>
            <a:endParaRPr lang="en-US" sz="820" dirty="0"/>
          </a:p>
        </p:txBody>
      </p:sp>
      <p:sp>
        <p:nvSpPr>
          <p:cNvPr id="59" name="Shape 57"/>
          <p:cNvSpPr/>
          <p:nvPr/>
        </p:nvSpPr>
        <p:spPr>
          <a:xfrm>
            <a:off x="6370168" y="4315968"/>
            <a:ext cx="841248" cy="18288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60" name="Text 58"/>
          <p:cNvSpPr/>
          <p:nvPr/>
        </p:nvSpPr>
        <p:spPr>
          <a:xfrm>
            <a:off x="6370168" y="431596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NEEDS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7293712" y="4343400"/>
            <a:ext cx="100584" cy="10058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62" name="Text 60"/>
          <p:cNvSpPr/>
          <p:nvPr/>
        </p:nvSpPr>
        <p:spPr>
          <a:xfrm>
            <a:off x="7467448" y="4270248"/>
            <a:ext cx="356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data cleansing gates identity testing</a:t>
            </a:r>
            <a:endParaRPr lang="en-US" sz="820" dirty="0"/>
          </a:p>
        </p:txBody>
      </p:sp>
      <p:sp>
        <p:nvSpPr>
          <p:cNvPr id="63" name="Text 61"/>
          <p:cNvSpPr/>
          <p:nvPr/>
        </p:nvSpPr>
        <p:spPr>
          <a:xfrm>
            <a:off x="11076127" y="427024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18</a:t>
            </a:r>
            <a:endParaRPr lang="en-US" sz="820" dirty="0"/>
          </a:p>
        </p:txBody>
      </p:sp>
      <p:sp>
        <p:nvSpPr>
          <p:cNvPr id="64" name="Shape 62"/>
          <p:cNvSpPr/>
          <p:nvPr/>
        </p:nvSpPr>
        <p:spPr>
          <a:xfrm>
            <a:off x="6370168" y="4590288"/>
            <a:ext cx="841248" cy="182880"/>
          </a:xfrm>
          <a:prstGeom prst="roundRect">
            <a:avLst>
              <a:gd name="adj" fmla="val 50000"/>
            </a:avLst>
          </a:prstGeom>
          <a:solidFill>
            <a:srgbClr val="7C2D12"/>
          </a:solidFill>
          <a:ln/>
        </p:spPr>
      </p:sp>
      <p:sp>
        <p:nvSpPr>
          <p:cNvPr id="65" name="Text 63"/>
          <p:cNvSpPr/>
          <p:nvPr/>
        </p:nvSpPr>
        <p:spPr>
          <a:xfrm>
            <a:off x="6370168" y="459028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▶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7293712" y="4617720"/>
            <a:ext cx="100584" cy="100584"/>
          </a:xfrm>
          <a:prstGeom prst="ellipse">
            <a:avLst/>
          </a:prstGeom>
          <a:solidFill>
            <a:srgbClr val="1E7E34"/>
          </a:solidFill>
          <a:ln/>
        </p:spPr>
      </p:sp>
      <p:sp>
        <p:nvSpPr>
          <p:cNvPr id="67" name="Text 65"/>
          <p:cNvSpPr/>
          <p:nvPr/>
        </p:nvSpPr>
        <p:spPr>
          <a:xfrm>
            <a:off x="7467448" y="4544568"/>
            <a:ext cx="356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cutover date to service desk training</a:t>
            </a:r>
            <a:endParaRPr lang="en-US" sz="820" dirty="0"/>
          </a:p>
        </p:txBody>
      </p:sp>
      <p:sp>
        <p:nvSpPr>
          <p:cNvPr id="68" name="Text 66"/>
          <p:cNvSpPr/>
          <p:nvPr/>
        </p:nvSpPr>
        <p:spPr>
          <a:xfrm>
            <a:off x="11076127" y="454456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4</a:t>
            </a:r>
            <a:endParaRPr lang="en-US" sz="820" dirty="0"/>
          </a:p>
        </p:txBody>
      </p:sp>
      <p:sp>
        <p:nvSpPr>
          <p:cNvPr id="69" name="Shape 67"/>
          <p:cNvSpPr/>
          <p:nvPr/>
        </p:nvSpPr>
        <p:spPr>
          <a:xfrm>
            <a:off x="384048" y="4992624"/>
            <a:ext cx="11423599" cy="347472"/>
          </a:xfrm>
          <a:prstGeom prst="roundRect">
            <a:avLst>
              <a:gd name="adj" fmla="val 21053"/>
            </a:avLst>
          </a:prstGeom>
          <a:solidFill>
            <a:srgbClr val="FDF6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93776" y="5056632"/>
            <a:ext cx="1298448" cy="219456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/>
        </p:spPr>
      </p:sp>
      <p:sp>
        <p:nvSpPr>
          <p:cNvPr id="71" name="Text 69"/>
          <p:cNvSpPr/>
          <p:nvPr/>
        </p:nvSpPr>
        <p:spPr>
          <a:xfrm>
            <a:off x="493776" y="5056632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NEEDED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1938528" y="4992624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executive escalation of the data sharing agreement to expedite legal sign-off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0070287" y="499262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by:  </a:t>
            </a:r>
            <a:pPr algn="r"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10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384048" y="544982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RISKS, ISSUES &amp; BLOCKERS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6778447" y="546811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plans address risks; remediation plans address issues and blockers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5669280"/>
          <a:ext cx="11423599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548640"/>
                <a:gridCol w="3246120"/>
                <a:gridCol w="4160520"/>
                <a:gridCol w="914400"/>
                <a:gridCol w="859536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 / REMEDIATION PLAN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services capacity may tighten in Q4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Mitigation: reserve Q4 vendor hours; cross-train two engineers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31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MFA vault provisioning delayed 3 weeks by change freeze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Remediation: change exception approved; recovery dates revised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MFA PM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7C2D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sharing agreement pending legal sign-off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Remediation: escalated to sponsor; legal review this week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Sponsor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8288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Modernization — Project Atlas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64008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 Report  |  Reporting Period: June 9–13, 2026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161727" y="201168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E2F0D9"/>
          </a:solidFill>
          <a:ln w="9525">
            <a:solidFill>
              <a:srgbClr val="1E7E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61727" y="2011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18527" y="64008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Manager: Casey Morrison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84048" y="932688"/>
            <a:ext cx="2182307" cy="548640"/>
          </a:xfrm>
          <a:prstGeom prst="rect">
            <a:avLst/>
          </a:prstGeom>
          <a:solidFill>
            <a:srgbClr val="FFF2CC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978408"/>
            <a:ext cx="18165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HEALTH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75488" y="1152144"/>
            <a:ext cx="177082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292035" y="1133856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694371" y="932688"/>
            <a:ext cx="2182307" cy="548640"/>
          </a:xfrm>
          <a:prstGeom prst="rect">
            <a:avLst/>
          </a:prstGeom>
          <a:solidFill>
            <a:srgbClr val="E8F3EC"/>
          </a:solidFill>
          <a:ln w="9525">
            <a:solidFill>
              <a:srgbClr val="1E7E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5811" y="978408"/>
            <a:ext cx="18165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785811" y="1152144"/>
            <a:ext cx="177082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02358" y="1133856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04694" y="932688"/>
            <a:ext cx="2182307" cy="548640"/>
          </a:xfrm>
          <a:prstGeom prst="rect">
            <a:avLst/>
          </a:prstGeom>
          <a:solidFill>
            <a:srgbClr val="FFF2CC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96134" y="978408"/>
            <a:ext cx="18165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096134" y="1152144"/>
            <a:ext cx="177082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912681" y="1133856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315017" y="932688"/>
            <a:ext cx="2182307" cy="548640"/>
          </a:xfrm>
          <a:prstGeom prst="rect">
            <a:avLst/>
          </a:prstGeom>
          <a:solidFill>
            <a:srgbClr val="FFF2CC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457" y="978408"/>
            <a:ext cx="18165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7406457" y="1152144"/>
            <a:ext cx="177082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223004" y="1133856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625340" y="932688"/>
            <a:ext cx="2182307" cy="548640"/>
          </a:xfrm>
          <a:prstGeom prst="rect">
            <a:avLst/>
          </a:prstGeom>
          <a:solidFill>
            <a:srgbClr val="E8F3EC"/>
          </a:solidFill>
          <a:ln w="9525">
            <a:solidFill>
              <a:srgbClr val="1E7E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16780" y="978408"/>
            <a:ext cx="18165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9716780" y="1152144"/>
            <a:ext cx="177082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533327" y="1133856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332927" y="153619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vs prior period:  ▲ improved   ◆ steady   ▼ declined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84048" y="175564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84048" y="1938528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E2F0D9"/>
          </a:solidFill>
          <a:ln w="9525">
            <a:solidFill>
              <a:srgbClr val="1E7E3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19385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build · Jun 20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322576" y="1938528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E2F0D9"/>
          </a:solidFill>
          <a:ln w="9525">
            <a:solidFill>
              <a:srgbClr val="1E7E3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22576" y="19385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 · Jul 15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261104" y="1938528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F6F6F3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61104" y="19385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 campaign design · Aug 10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382512" y="1938528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F6F6F3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82512" y="19385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complete · Sep 18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84048" y="2304288"/>
            <a:ext cx="5574640" cy="1298448"/>
          </a:xfrm>
          <a:prstGeom prst="rect">
            <a:avLst/>
          </a:prstGeom>
          <a:solidFill>
            <a:srgbClr val="F6F6F3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1208" y="2377440"/>
            <a:ext cx="530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21208" y="2578608"/>
            <a:ext cx="530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Wave 2 is at-risk on FIDO2 token supply; a buffer-stock draw (DC-028) holds the 6/27 cutover if ratified this week. All other milestones track to baseline, and UAT for the self-service portal passed at 96% first-run.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33008" y="2304288"/>
            <a:ext cx="5574640" cy="1298448"/>
          </a:xfrm>
          <a:prstGeom prst="rect">
            <a:avLst/>
          </a:prstGeom>
          <a:solidFill>
            <a:srgbClr val="F6F6F3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70168" y="2377440"/>
            <a:ext cx="530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370168" y="2578608"/>
            <a:ext cx="530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source connectors built and promoted to test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Joiner-mover-leaver workflows approved by HR and IT security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mining pilot complete: 82% of access mapped to roles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84048" y="3712464"/>
            <a:ext cx="5574640" cy="1170432"/>
          </a:xfrm>
          <a:prstGeom prst="rect">
            <a:avLst/>
          </a:prstGeom>
          <a:solidFill>
            <a:srgbClr val="F6F6F3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1208" y="3785616"/>
            <a:ext cx="530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21208" y="3986784"/>
            <a:ext cx="530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end-to-end integration testing across connected sources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 off certification campaign design with audit and compliance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wave 1 application onboarding runbook for operations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233008" y="3712464"/>
            <a:ext cx="5574640" cy="1170432"/>
          </a:xfrm>
          <a:prstGeom prst="rect">
            <a:avLst/>
          </a:prstGeom>
          <a:solidFill>
            <a:srgbClr val="F6F6F3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70168" y="3785616"/>
            <a:ext cx="530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0664647" y="378561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· need-by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6370168" y="4041648"/>
            <a:ext cx="841248" cy="18288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50" name="Text 48"/>
          <p:cNvSpPr/>
          <p:nvPr/>
        </p:nvSpPr>
        <p:spPr>
          <a:xfrm>
            <a:off x="6370168" y="404164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NEEDS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7293712" y="4069080"/>
            <a:ext cx="100584" cy="10058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52" name="Text 50"/>
          <p:cNvSpPr/>
          <p:nvPr/>
        </p:nvSpPr>
        <p:spPr>
          <a:xfrm>
            <a:off x="7467448" y="3995928"/>
            <a:ext cx="356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data cleansing gates lifecycle testing</a:t>
            </a:r>
            <a:endParaRPr lang="en-US" sz="820" dirty="0"/>
          </a:p>
        </p:txBody>
      </p:sp>
      <p:sp>
        <p:nvSpPr>
          <p:cNvPr id="53" name="Text 51"/>
          <p:cNvSpPr/>
          <p:nvPr/>
        </p:nvSpPr>
        <p:spPr>
          <a:xfrm>
            <a:off x="11076127" y="399592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18</a:t>
            </a:r>
            <a:endParaRPr lang="en-US" sz="820" dirty="0"/>
          </a:p>
        </p:txBody>
      </p:sp>
      <p:sp>
        <p:nvSpPr>
          <p:cNvPr id="54" name="Shape 52"/>
          <p:cNvSpPr/>
          <p:nvPr/>
        </p:nvSpPr>
        <p:spPr>
          <a:xfrm>
            <a:off x="6370168" y="4315968"/>
            <a:ext cx="841248" cy="182880"/>
          </a:xfrm>
          <a:prstGeom prst="roundRect">
            <a:avLst>
              <a:gd name="adj" fmla="val 50000"/>
            </a:avLst>
          </a:prstGeom>
          <a:solidFill>
            <a:srgbClr val="0F6B72"/>
          </a:solidFill>
          <a:ln/>
        </p:spPr>
      </p:sp>
      <p:sp>
        <p:nvSpPr>
          <p:cNvPr id="55" name="Text 53"/>
          <p:cNvSpPr/>
          <p:nvPr/>
        </p:nvSpPr>
        <p:spPr>
          <a:xfrm>
            <a:off x="6370168" y="431596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7293712" y="4343400"/>
            <a:ext cx="100584" cy="100584"/>
          </a:xfrm>
          <a:prstGeom prst="ellipse">
            <a:avLst/>
          </a:prstGeom>
          <a:solidFill>
            <a:srgbClr val="1E7E34"/>
          </a:solidFill>
          <a:ln/>
        </p:spPr>
      </p:sp>
      <p:sp>
        <p:nvSpPr>
          <p:cNvPr id="57" name="Text 55"/>
          <p:cNvSpPr/>
          <p:nvPr/>
        </p:nvSpPr>
        <p:spPr>
          <a:xfrm>
            <a:off x="7467448" y="4270248"/>
            <a:ext cx="356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model sign-off gates cert campaign build</a:t>
            </a:r>
            <a:endParaRPr lang="en-US" sz="820" dirty="0"/>
          </a:p>
        </p:txBody>
      </p:sp>
      <p:sp>
        <p:nvSpPr>
          <p:cNvPr id="58" name="Text 56"/>
          <p:cNvSpPr/>
          <p:nvPr/>
        </p:nvSpPr>
        <p:spPr>
          <a:xfrm>
            <a:off x="11076127" y="427024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</a:t>
            </a:r>
            <a:endParaRPr lang="en-US" sz="820" dirty="0"/>
          </a:p>
        </p:txBody>
      </p:sp>
      <p:sp>
        <p:nvSpPr>
          <p:cNvPr id="59" name="Shape 57"/>
          <p:cNvSpPr/>
          <p:nvPr/>
        </p:nvSpPr>
        <p:spPr>
          <a:xfrm>
            <a:off x="6370168" y="4590288"/>
            <a:ext cx="841248" cy="182880"/>
          </a:xfrm>
          <a:prstGeom prst="roundRect">
            <a:avLst>
              <a:gd name="adj" fmla="val 50000"/>
            </a:avLst>
          </a:prstGeom>
          <a:solidFill>
            <a:srgbClr val="7C2D12"/>
          </a:solidFill>
          <a:ln/>
        </p:spPr>
      </p:sp>
      <p:sp>
        <p:nvSpPr>
          <p:cNvPr id="60" name="Text 58"/>
          <p:cNvSpPr/>
          <p:nvPr/>
        </p:nvSpPr>
        <p:spPr>
          <a:xfrm>
            <a:off x="6370168" y="459028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▶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7293712" y="4617720"/>
            <a:ext cx="100584" cy="100584"/>
          </a:xfrm>
          <a:prstGeom prst="ellipse">
            <a:avLst/>
          </a:prstGeom>
          <a:solidFill>
            <a:srgbClr val="1E7E34"/>
          </a:solidFill>
          <a:ln/>
        </p:spPr>
      </p:sp>
      <p:sp>
        <p:nvSpPr>
          <p:cNvPr id="62" name="Text 60"/>
          <p:cNvSpPr/>
          <p:nvPr/>
        </p:nvSpPr>
        <p:spPr>
          <a:xfrm>
            <a:off x="7467448" y="4544568"/>
            <a:ext cx="356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feeds to PAM account discovery</a:t>
            </a:r>
            <a:endParaRPr lang="en-US" sz="820" dirty="0"/>
          </a:p>
        </p:txBody>
      </p:sp>
      <p:sp>
        <p:nvSpPr>
          <p:cNvPr id="63" name="Text 61"/>
          <p:cNvSpPr/>
          <p:nvPr/>
        </p:nvSpPr>
        <p:spPr>
          <a:xfrm>
            <a:off x="11076127" y="454456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15</a:t>
            </a:r>
            <a:endParaRPr lang="en-US" sz="820" dirty="0"/>
          </a:p>
        </p:txBody>
      </p:sp>
      <p:sp>
        <p:nvSpPr>
          <p:cNvPr id="64" name="Shape 62"/>
          <p:cNvSpPr/>
          <p:nvPr/>
        </p:nvSpPr>
        <p:spPr>
          <a:xfrm>
            <a:off x="384048" y="4992624"/>
            <a:ext cx="11423599" cy="347472"/>
          </a:xfrm>
          <a:prstGeom prst="roundRect">
            <a:avLst>
              <a:gd name="adj" fmla="val 21053"/>
            </a:avLst>
          </a:prstGeom>
          <a:solidFill>
            <a:srgbClr val="F6F6F3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93776" y="5056632"/>
            <a:ext cx="1298448" cy="219456"/>
          </a:xfrm>
          <a:prstGeom prst="roundRect">
            <a:avLst>
              <a:gd name="adj" fmla="val 50000"/>
            </a:avLst>
          </a:prstGeom>
          <a:solidFill>
            <a:srgbClr val="4B5563"/>
          </a:solidFill>
          <a:ln/>
        </p:spPr>
      </p:sp>
      <p:sp>
        <p:nvSpPr>
          <p:cNvPr id="66" name="Text 64"/>
          <p:cNvSpPr/>
          <p:nvPr/>
        </p:nvSpPr>
        <p:spPr>
          <a:xfrm>
            <a:off x="493776" y="5056632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NEEDED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1938528" y="4992624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this period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384048" y="544982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RISKS, ISSUES &amp; BLOCKERS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778447" y="546811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plans address risks; remediation plans address issues and blockers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5669280"/>
          <a:ext cx="11423599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548640"/>
                <a:gridCol w="3246120"/>
                <a:gridCol w="4160520"/>
                <a:gridCol w="914400"/>
                <a:gridCol w="859536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 / REMEDIATION PLAN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Remaining units may show lower role coverage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Mitigation: staged rollout with birthright-only fallback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 Lead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refresh removed connector configuration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Remediation: config restored; refresh freeze agreed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 Lead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7C2D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reported this period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Report Template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6400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Key, definitions, and color reference — so every project reports status the same way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161727" y="237744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F6F6F3"/>
          </a:solidFill>
          <a:ln w="9525">
            <a:solidFill>
              <a:srgbClr val="D8D8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61727" y="23774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" y="987552"/>
            <a:ext cx="11423599" cy="1005840"/>
          </a:xfrm>
          <a:prstGeom prst="rect">
            <a:avLst/>
          </a:prstGeom>
          <a:solidFill>
            <a:srgbClr val="F9F9F7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04241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· OVERALL, SCOPE, SCHEDULE, RESOURCES, BUDGET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6928" y="128016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E8F3EC"/>
          </a:solidFill>
          <a:ln w="9525">
            <a:solidFill>
              <a:srgbClr val="1E7E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280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66928" y="159105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plan. No leadership help needed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3127248" y="128016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FF2CC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27248" y="1280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127248" y="159105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plan; credible recovery plan in flight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5687568" y="128016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BEAEA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87568" y="1280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TRACK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687568" y="159105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in jeopardy. Leadership action required</a:t>
            </a:r>
            <a:endParaRPr lang="en-US" sz="760" dirty="0"/>
          </a:p>
        </p:txBody>
      </p:sp>
      <p:sp>
        <p:nvSpPr>
          <p:cNvPr id="17" name="Text 15"/>
          <p:cNvSpPr/>
          <p:nvPr/>
        </p:nvSpPr>
        <p:spPr>
          <a:xfrm>
            <a:off x="8796528" y="12618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796528" y="14630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improved  ◆ steady  ▼ declined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796528" y="164592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prior reporting period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84048" y="2103120"/>
            <a:ext cx="11423599" cy="969264"/>
          </a:xfrm>
          <a:prstGeom prst="rect">
            <a:avLst/>
          </a:prstGeom>
          <a:solidFill>
            <a:srgbClr val="F9F9F7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" y="215798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66928" y="239572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EF0F2"/>
          </a:solidFill>
          <a:ln w="9525">
            <a:solidFill>
              <a:srgbClr val="4B55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23957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6928" y="270662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Pre-execution: planning and readiness underway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3127248" y="239572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2F0D9"/>
          </a:solidFill>
          <a:ln w="9525">
            <a:solidFill>
              <a:srgbClr val="1E7E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27248" y="23957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127248" y="270662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Executing against the approved baseline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5687568" y="239572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FFF2CC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87568" y="23957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687568" y="270662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baseline; recovery plan required</a:t>
            </a:r>
            <a:endParaRPr lang="en-US" sz="760" dirty="0"/>
          </a:p>
        </p:txBody>
      </p:sp>
      <p:sp>
        <p:nvSpPr>
          <p:cNvPr id="31" name="Shape 29"/>
          <p:cNvSpPr/>
          <p:nvPr/>
        </p:nvSpPr>
        <p:spPr>
          <a:xfrm>
            <a:off x="8156448" y="239572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DEEBF7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56448" y="23957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156448" y="270662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and closed out</a:t>
            </a:r>
            <a:endParaRPr lang="en-US" sz="760" dirty="0"/>
          </a:p>
        </p:txBody>
      </p:sp>
      <p:sp>
        <p:nvSpPr>
          <p:cNvPr id="34" name="Shape 32"/>
          <p:cNvSpPr/>
          <p:nvPr/>
        </p:nvSpPr>
        <p:spPr>
          <a:xfrm>
            <a:off x="384048" y="3182112"/>
            <a:ext cx="11423599" cy="969264"/>
          </a:xfrm>
          <a:prstGeom prst="rect">
            <a:avLst/>
          </a:prstGeom>
          <a:solidFill>
            <a:srgbClr val="F9F9F7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" y="323697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TAGS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687007" y="3246120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dependency also carries a health dot and a need-by date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566928" y="347472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34747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NEEDS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66928" y="37673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Upstream: waiting on another team or project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3127248" y="347472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7C2D12"/>
          </a:solidFill>
          <a:ln/>
        </p:spPr>
      </p:sp>
      <p:sp>
        <p:nvSpPr>
          <p:cNvPr id="41" name="Text 39"/>
          <p:cNvSpPr/>
          <p:nvPr/>
        </p:nvSpPr>
        <p:spPr>
          <a:xfrm>
            <a:off x="3127248" y="34747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▶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127248" y="37673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Downstream: another team is waiting on us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5687568" y="347472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44" name="Text 42"/>
          <p:cNvSpPr/>
          <p:nvPr/>
        </p:nvSpPr>
        <p:spPr>
          <a:xfrm>
            <a:off x="5687568" y="34747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687568" y="37673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person or team the work depends on</a:t>
            </a:r>
            <a:endParaRPr lang="en-US" sz="740" dirty="0"/>
          </a:p>
        </p:txBody>
      </p:sp>
      <p:sp>
        <p:nvSpPr>
          <p:cNvPr id="46" name="Shape 44"/>
          <p:cNvSpPr/>
          <p:nvPr/>
        </p:nvSpPr>
        <p:spPr>
          <a:xfrm>
            <a:off x="8247888" y="347472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0F6B72"/>
          </a:solidFill>
          <a:ln/>
        </p:spPr>
      </p:sp>
      <p:sp>
        <p:nvSpPr>
          <p:cNvPr id="47" name="Text 45"/>
          <p:cNvSpPr/>
          <p:nvPr/>
        </p:nvSpPr>
        <p:spPr>
          <a:xfrm>
            <a:off x="8247888" y="34747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247888" y="37673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 inside the project blocks another task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384048" y="4261104"/>
            <a:ext cx="11423599" cy="1481328"/>
          </a:xfrm>
          <a:prstGeom prst="rect">
            <a:avLst/>
          </a:prstGeom>
          <a:solidFill>
            <a:srgbClr val="F9F9F7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208" y="43159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· ISSUE · BLOCKER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419088" y="43159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790127" y="432511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scale for risks, issues, and blockers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66928" y="45537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1527048" y="4553712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Might happen. Carries a mitigation plan to reduce likelihood or impact before it lands</a:t>
            </a:r>
            <a:endParaRPr lang="en-US" sz="760" dirty="0"/>
          </a:p>
        </p:txBody>
      </p:sp>
      <p:sp>
        <p:nvSpPr>
          <p:cNvPr id="55" name="Text 53"/>
          <p:cNvSpPr/>
          <p:nvPr/>
        </p:nvSpPr>
        <p:spPr>
          <a:xfrm>
            <a:off x="566928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1527048" y="4956048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now. Carries a remediation plan with an owner and a target date</a:t>
            </a:r>
            <a:endParaRPr lang="en-US" sz="760" dirty="0"/>
          </a:p>
        </p:txBody>
      </p:sp>
      <p:sp>
        <p:nvSpPr>
          <p:cNvPr id="57" name="Text 55"/>
          <p:cNvSpPr/>
          <p:nvPr/>
        </p:nvSpPr>
        <p:spPr>
          <a:xfrm>
            <a:off x="566928" y="53583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1527048" y="5358384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is stopped until cleared. Remediate and escalate immediately</a:t>
            </a:r>
            <a:endParaRPr lang="en-US" sz="760" dirty="0"/>
          </a:p>
        </p:txBody>
      </p:sp>
      <p:sp>
        <p:nvSpPr>
          <p:cNvPr id="59" name="Text 57"/>
          <p:cNvSpPr/>
          <p:nvPr/>
        </p:nvSpPr>
        <p:spPr>
          <a:xfrm>
            <a:off x="6419088" y="45537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379208" y="4553712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Threatens go-live, the critical path, compliance, or scope. Requires executive attention and a decide-by date</a:t>
            </a:r>
            <a:endParaRPr lang="en-US" sz="760" dirty="0"/>
          </a:p>
        </p:txBody>
      </p:sp>
      <p:sp>
        <p:nvSpPr>
          <p:cNvPr id="61" name="Text 59"/>
          <p:cNvSpPr/>
          <p:nvPr/>
        </p:nvSpPr>
        <p:spPr>
          <a:xfrm>
            <a:off x="6419088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7379208" y="4956048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Impacts milestones or quality but recoverable with a plan. PM manages; leadership informed/involved in resolution if necessary</a:t>
            </a:r>
            <a:endParaRPr lang="en-US" sz="760" dirty="0"/>
          </a:p>
        </p:txBody>
      </p:sp>
      <p:sp>
        <p:nvSpPr>
          <p:cNvPr id="63" name="Text 61"/>
          <p:cNvSpPr/>
          <p:nvPr/>
        </p:nvSpPr>
        <p:spPr>
          <a:xfrm>
            <a:off x="6419088" y="53583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7379208" y="5358384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or contained impact. Team manages; tracked on the register and monitored</a:t>
            </a:r>
            <a:endParaRPr lang="en-US" sz="760" dirty="0"/>
          </a:p>
        </p:txBody>
      </p:sp>
      <p:sp>
        <p:nvSpPr>
          <p:cNvPr id="65" name="Shape 63"/>
          <p:cNvSpPr/>
          <p:nvPr/>
        </p:nvSpPr>
        <p:spPr>
          <a:xfrm>
            <a:off x="384048" y="5852160"/>
            <a:ext cx="11423599" cy="841248"/>
          </a:xfrm>
          <a:prstGeom prst="rect">
            <a:avLst/>
          </a:prstGeom>
          <a:solidFill>
            <a:srgbClr val="F9F9F7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21208" y="590702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PALETTE (HEX)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6687007" y="591616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PowerPoint: any color menu → More Colors → Custom → enter Hex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66928" y="61264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ACCENTS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1435608" y="6108192"/>
            <a:ext cx="182880" cy="182880"/>
          </a:xfrm>
          <a:prstGeom prst="rect">
            <a:avLst/>
          </a:prstGeom>
          <a:solidFill>
            <a:srgbClr val="1E7E34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673352" y="608990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1E7E34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2752344" y="6108192"/>
            <a:ext cx="182880" cy="182880"/>
          </a:xfrm>
          <a:prstGeom prst="rect">
            <a:avLst/>
          </a:prstGeom>
          <a:solidFill>
            <a:srgbClr val="B45309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990088" y="608990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B45309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4069080" y="6108192"/>
            <a:ext cx="182880" cy="182880"/>
          </a:xfrm>
          <a:prstGeom prst="rect">
            <a:avLst/>
          </a:prstGeom>
          <a:solidFill>
            <a:srgbClr val="B91C1C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306824" y="608990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B91C1C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5385816" y="6108192"/>
            <a:ext cx="182880" cy="182880"/>
          </a:xfrm>
          <a:prstGeom prst="rect">
            <a:avLst/>
          </a:prstGeom>
          <a:solidFill>
            <a:srgbClr val="7C2D12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623560" y="608990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red 7C2D12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6702552" y="6108192"/>
            <a:ext cx="182880" cy="182880"/>
          </a:xfrm>
          <a:prstGeom prst="rect">
            <a:avLst/>
          </a:prstGeom>
          <a:solidFill>
            <a:srgbClr val="0F6B72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940296" y="608990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 0F6B72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8019288" y="6108192"/>
            <a:ext cx="182880" cy="182880"/>
          </a:xfrm>
          <a:prstGeom prst="rect">
            <a:avLst/>
          </a:prstGeom>
          <a:solidFill>
            <a:srgbClr val="1D4ED8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257032" y="608990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1D4ED8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9336024" y="6108192"/>
            <a:ext cx="182880" cy="182880"/>
          </a:xfrm>
          <a:prstGeom prst="rect">
            <a:avLst/>
          </a:prstGeom>
          <a:solidFill>
            <a:srgbClr val="7C3AED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573768" y="608990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Violet 7C3AED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10652760" y="6108192"/>
            <a:ext cx="182880" cy="182880"/>
          </a:xfrm>
          <a:prstGeom prst="rect">
            <a:avLst/>
          </a:prstGeom>
          <a:solidFill>
            <a:srgbClr val="4B5563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890504" y="608990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 4B5563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566928" y="63825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1435608" y="6364224"/>
            <a:ext cx="182880" cy="182880"/>
          </a:xfrm>
          <a:prstGeom prst="rect">
            <a:avLst/>
          </a:prstGeom>
          <a:solidFill>
            <a:srgbClr val="E8F3EC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673352" y="634593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 E8F3EC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3172968" y="6364224"/>
            <a:ext cx="182880" cy="182880"/>
          </a:xfrm>
          <a:prstGeom prst="rect">
            <a:avLst/>
          </a:prstGeom>
          <a:solidFill>
            <a:srgbClr val="FFF2CC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410712" y="634593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risk/Delayed FFF2CC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4910328" y="6364224"/>
            <a:ext cx="182880" cy="182880"/>
          </a:xfrm>
          <a:prstGeom prst="rect">
            <a:avLst/>
          </a:prstGeom>
          <a:solidFill>
            <a:srgbClr val="FBEAEA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148072" y="634593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track FBEAEA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6647688" y="6364224"/>
            <a:ext cx="182880" cy="182880"/>
          </a:xfrm>
          <a:prstGeom prst="rect">
            <a:avLst/>
          </a:prstGeom>
          <a:solidFill>
            <a:srgbClr val="E2F0D9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885432" y="634593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E2F0D9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8385048" y="6364224"/>
            <a:ext cx="182880" cy="182880"/>
          </a:xfrm>
          <a:prstGeom prst="rect">
            <a:avLst/>
          </a:prstGeom>
          <a:solidFill>
            <a:srgbClr val="DEEBF7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622792" y="634593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DEEBF7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10122408" y="6364224"/>
            <a:ext cx="182880" cy="182880"/>
          </a:xfrm>
          <a:prstGeom prst="rect">
            <a:avLst/>
          </a:prstGeom>
          <a:solidFill>
            <a:srgbClr val="EEF0F2"/>
          </a:solidFill>
          <a:ln w="6350">
            <a:solidFill>
              <a:srgbClr val="D8D8D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0360152" y="634593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 EEF0F2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2026-07-28T00:54:53Z</dcterms:created>
  <dcterms:modified xsi:type="dcterms:W3CDTF">2026-07-28T00:54:53Z</dcterms:modified>
</cp:coreProperties>
</file>