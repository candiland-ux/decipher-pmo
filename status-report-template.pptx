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</a:t>
            </a:r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Program Name]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 Report  |  Reporting Period: [dates]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161727" y="20116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1727" y="201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18527" y="6400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Manager: [Program Manager Name]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HEALTH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5488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92035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4371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5811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85811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2358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04694" y="932688"/>
            <a:ext cx="2182307" cy="548640"/>
          </a:xfrm>
          <a:prstGeom prst="rect">
            <a:avLst/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6134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96134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12681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017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457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406457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23004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25340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16780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716780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33327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32927" y="15361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period:  ▲ improved   ◆ steady   ▼ declined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048" y="1755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A]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11680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B]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39312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C]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06440" y="1755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06440" y="1938528"/>
            <a:ext cx="1938528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19385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[Milestone – date]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854696" y="1938528"/>
            <a:ext cx="1938528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54696" y="19385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[Milestone – date]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902952" y="1938528"/>
            <a:ext cx="1938528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02952" y="19385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[Milestone – date]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" y="2304288"/>
            <a:ext cx="5574640" cy="1298448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" y="2377440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1208" y="2578608"/>
            <a:ext cx="530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[Three or four sentences: where the program stands, why the health is what it is, what's being done about it, and the by-when. It stands alone.]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33008" y="2304288"/>
            <a:ext cx="5574640" cy="1298448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0168" y="2377440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70168" y="2578608"/>
            <a:ext cx="530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[Completed milestone or increment]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[Completed milestone or increment]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closed / risk retired]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4048" y="3712464"/>
            <a:ext cx="5574640" cy="1170432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3785616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1208" y="3986784"/>
            <a:ext cx="530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or milestone, with date]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or milestone, with date]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[Stakeholder engagement / dependency]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33008" y="3712464"/>
            <a:ext cx="5574640" cy="1170432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0168" y="3785616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DEPENDENCIES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664647" y="37856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need-by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370168" y="404164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55" name="Text 53"/>
          <p:cNvSpPr/>
          <p:nvPr/>
        </p:nvSpPr>
        <p:spPr>
          <a:xfrm>
            <a:off x="6370168" y="40416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NEEDS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7293712" y="4069080"/>
            <a:ext cx="100584" cy="1005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7" name="Text 55"/>
          <p:cNvSpPr/>
          <p:nvPr/>
        </p:nvSpPr>
        <p:spPr>
          <a:xfrm>
            <a:off x="7467448" y="399592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[upstream: waiting on another team or project]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11076127" y="39959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370168" y="431596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6370168" y="4315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293712" y="4343400"/>
            <a:ext cx="100584" cy="1005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2" name="Text 60"/>
          <p:cNvSpPr/>
          <p:nvPr/>
        </p:nvSpPr>
        <p:spPr>
          <a:xfrm>
            <a:off x="7467448" y="427024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[shared person or team the work depends on]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11076127" y="42702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6370168" y="459028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/>
        </p:spPr>
      </p:sp>
      <p:sp>
        <p:nvSpPr>
          <p:cNvPr id="65" name="Text 63"/>
          <p:cNvSpPr/>
          <p:nvPr/>
        </p:nvSpPr>
        <p:spPr>
          <a:xfrm>
            <a:off x="6370168" y="4590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▶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293712" y="4617720"/>
            <a:ext cx="100584" cy="10058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67" name="Text 65"/>
          <p:cNvSpPr/>
          <p:nvPr/>
        </p:nvSpPr>
        <p:spPr>
          <a:xfrm>
            <a:off x="7467448" y="454456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[downstream: another team is waiting on us]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11076127" y="45445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384048" y="4992624"/>
            <a:ext cx="11423599" cy="347472"/>
          </a:xfrm>
          <a:prstGeom prst="roundRect">
            <a:avLst>
              <a:gd name="adj" fmla="val 21053"/>
            </a:avLst>
          </a:prstGeom>
          <a:solidFill>
            <a:srgbClr val="FDF6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3776" y="50566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/>
        </p:spPr>
      </p:sp>
      <p:sp>
        <p:nvSpPr>
          <p:cNvPr id="71" name="Text 69"/>
          <p:cNvSpPr/>
          <p:nvPr/>
        </p:nvSpPr>
        <p:spPr>
          <a:xfrm>
            <a:off x="493776" y="50566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938528" y="499262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decision, stated as a signoff or choice]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70287" y="49926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by:  </a:t>
            </a:r>
            <a:pPr algn="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84048" y="54498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RISKS, ISSUES &amp; BLOCKERS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778447" y="546811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plans address risks; remediation plans address issues and blockers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5669280"/>
          <a:ext cx="11423599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48640"/>
                <a:gridCol w="3246120"/>
                <a:gridCol w="4160520"/>
                <a:gridCol w="914400"/>
                <a:gridCol w="859536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/ REMEDIATION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might happen, and to what]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Mitigation: [action reducing likelihood or impact]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has happened]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Remediation: [action resolving the problem]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C2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is stopped, and by what]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Remediation: [the decision or action that unblocks]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</a:t>
            </a:r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Project Name]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Report  |  Reporting Period: [dates]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161727" y="20116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1727" y="201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18527" y="6400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Manager: [Project Manager Name]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HEALTH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5488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92035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4371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5811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85811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2358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04694" y="932688"/>
            <a:ext cx="2182307" cy="548640"/>
          </a:xfrm>
          <a:prstGeom prst="rect">
            <a:avLst/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6134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96134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12681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017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457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406457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23004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25340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16780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716780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33327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32927" y="15361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period:  ▲ improved   ◆ steady   ▼ declined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048" y="1755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193852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[Milestone · date]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22576" y="193852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22576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[Milestone · date]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61104" y="193852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61104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[Milestone · date]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99632" y="193852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[Milestone · date]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048" y="2304288"/>
            <a:ext cx="5574640" cy="1298448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2377440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1208" y="2578608"/>
            <a:ext cx="530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[Three or four sentences: where the project stands, why the health is what it is, what's being done about it, and the by-when. It stands alone.]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33008" y="2304288"/>
            <a:ext cx="5574640" cy="1298448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0168" y="2377440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70168" y="2578608"/>
            <a:ext cx="530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[Completed milestone or increment]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[Completed milestone or increment]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closed / risk retired]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" y="3712464"/>
            <a:ext cx="5574640" cy="1170432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" y="3785616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1208" y="3986784"/>
            <a:ext cx="530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or milestone, with date]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or milestone, with date]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[Stakeholder engagement / dependency]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33008" y="3712464"/>
            <a:ext cx="5574640" cy="1170432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0168" y="3785616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DEPENDENCIES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664647" y="37856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need-by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370168" y="404164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50" name="Text 48"/>
          <p:cNvSpPr/>
          <p:nvPr/>
        </p:nvSpPr>
        <p:spPr>
          <a:xfrm>
            <a:off x="6370168" y="40416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NEEDS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293712" y="4069080"/>
            <a:ext cx="100584" cy="1005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2" name="Text 50"/>
          <p:cNvSpPr/>
          <p:nvPr/>
        </p:nvSpPr>
        <p:spPr>
          <a:xfrm>
            <a:off x="7467448" y="399592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[upstream: waiting on another team or project]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11076127" y="39959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6370168" y="431596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6370168" y="4315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7293712" y="4343400"/>
            <a:ext cx="100584" cy="1005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7" name="Text 55"/>
          <p:cNvSpPr/>
          <p:nvPr/>
        </p:nvSpPr>
        <p:spPr>
          <a:xfrm>
            <a:off x="7467448" y="427024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[shared person or team the work depends on]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11076127" y="42702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370168" y="459028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/>
        </p:spPr>
      </p:sp>
      <p:sp>
        <p:nvSpPr>
          <p:cNvPr id="60" name="Text 58"/>
          <p:cNvSpPr/>
          <p:nvPr/>
        </p:nvSpPr>
        <p:spPr>
          <a:xfrm>
            <a:off x="6370168" y="4590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▶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293712" y="4617720"/>
            <a:ext cx="100584" cy="10058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62" name="Text 60"/>
          <p:cNvSpPr/>
          <p:nvPr/>
        </p:nvSpPr>
        <p:spPr>
          <a:xfrm>
            <a:off x="7467448" y="454456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[downstream: another team is waiting on us]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11076127" y="45445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384048" y="4992624"/>
            <a:ext cx="11423599" cy="347472"/>
          </a:xfrm>
          <a:prstGeom prst="roundRect">
            <a:avLst>
              <a:gd name="adj" fmla="val 21053"/>
            </a:avLst>
          </a:prstGeom>
          <a:solidFill>
            <a:srgbClr val="FDF6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3776" y="50566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/>
        </p:spPr>
      </p:sp>
      <p:sp>
        <p:nvSpPr>
          <p:cNvPr id="66" name="Text 64"/>
          <p:cNvSpPr/>
          <p:nvPr/>
        </p:nvSpPr>
        <p:spPr>
          <a:xfrm>
            <a:off x="493776" y="50566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938528" y="499262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decision, stated as a signoff or choice]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070287" y="49926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by:  </a:t>
            </a:r>
            <a:pPr algn="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84048" y="54498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RISKS, ISSUES &amp; BLOCKERS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778447" y="546811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plans address risks; remediation plans address issues and blockers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5669280"/>
          <a:ext cx="11423599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48640"/>
                <a:gridCol w="3246120"/>
                <a:gridCol w="4160520"/>
                <a:gridCol w="914400"/>
                <a:gridCol w="859536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/ REMEDIATION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might happen, and to what]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Mitigation: [action reducing likelihood or impact]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has happened]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Remediation: [action resolving the problem]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C2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is stopped, and by what]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Remediation: [the decision or action that unblocks]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Report Template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Key, definitions, and color reference — so every project reports status the same way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161727" y="237744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1727" y="237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11423599" cy="1005840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424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OVERALL, SCOPE, SCHEDULE, RESOURCES, BUDGET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2801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15910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plan. No leadership help needed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3127248" y="12801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27248" y="15910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plan; credible recovery plan in flight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5687568" y="12801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TRACK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87568" y="15910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in jeopardy. Leadership action required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8796528" y="1261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96528" y="1463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improved  ◆ steady  ▼ declined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796528" y="16459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prior reporting period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84048" y="2103120"/>
            <a:ext cx="11423599" cy="969264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1579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239572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9525">
            <a:solidFill>
              <a:srgbClr val="4B55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27066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Pre-execution: planning and readiness underway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3127248" y="239572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27248" y="27066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against the approved baseline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687568" y="23957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87568" y="27066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baseline; recovery plan required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8156448" y="23957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156448" y="27066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and closed out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384048" y="3182112"/>
            <a:ext cx="11423599" cy="969264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3236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TAGS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87007" y="324612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dependency also carries a health dot and a need-by date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66928" y="34747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3474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NEEDS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Upstream: waiting on another team or project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3127248" y="34747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/>
        </p:spPr>
      </p:sp>
      <p:sp>
        <p:nvSpPr>
          <p:cNvPr id="41" name="Text 39"/>
          <p:cNvSpPr/>
          <p:nvPr/>
        </p:nvSpPr>
        <p:spPr>
          <a:xfrm>
            <a:off x="3127248" y="3474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▶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12724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Downstream: another team is waiting on us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5687568" y="34747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5687568" y="3474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8756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person or team the work depends on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8247888" y="34747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F6B72"/>
          </a:solidFill>
          <a:ln/>
        </p:spPr>
      </p:sp>
      <p:sp>
        <p:nvSpPr>
          <p:cNvPr id="47" name="Text 45"/>
          <p:cNvSpPr/>
          <p:nvPr/>
        </p:nvSpPr>
        <p:spPr>
          <a:xfrm>
            <a:off x="8247888" y="3474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4788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inside the project blocks another task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384048" y="4261104"/>
            <a:ext cx="11423599" cy="1481328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4315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ISSUE · BLOCKER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19088" y="4315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790127" y="43251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scale for risks, issues, and blockers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66928" y="4553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527048" y="455371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happen. Carries a mitigation plan to reduce likelihood or impact before it lands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66928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527048" y="495604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now. Carries a remediation plan with an owner and a target date</a:t>
            </a:r>
            <a:endParaRPr lang="en-US" sz="760" dirty="0"/>
          </a:p>
        </p:txBody>
      </p:sp>
      <p:sp>
        <p:nvSpPr>
          <p:cNvPr id="57" name="Text 55"/>
          <p:cNvSpPr/>
          <p:nvPr/>
        </p:nvSpPr>
        <p:spPr>
          <a:xfrm>
            <a:off x="566928" y="53583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527048" y="535838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stopped until cleared. Remediate and escalate immediately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6419088" y="4553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79208" y="45537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go-live, the critical path, compliance, or scope. Requires executive attention and a decide-by date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6419088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379208" y="4956048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milestones or quality but recoverable with a plan. PM manages; leadership informed/involved in resolution if necessary</a:t>
            </a:r>
            <a:endParaRPr lang="en-US" sz="760" dirty="0"/>
          </a:p>
        </p:txBody>
      </p:sp>
      <p:sp>
        <p:nvSpPr>
          <p:cNvPr id="63" name="Text 61"/>
          <p:cNvSpPr/>
          <p:nvPr/>
        </p:nvSpPr>
        <p:spPr>
          <a:xfrm>
            <a:off x="6419088" y="53583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379208" y="5358384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or contained impact. Team manages; tracked on the register and monitored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384048" y="5852160"/>
            <a:ext cx="11423599" cy="841248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1208" y="59070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 (HEX)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687007" y="591616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any color menu → More Colors → Custom → enter Hex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6928" y="6126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435608" y="6108192"/>
            <a:ext cx="18288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673352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1E7E34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752344" y="6108192"/>
            <a:ext cx="182880" cy="182880"/>
          </a:xfrm>
          <a:prstGeom prst="rect">
            <a:avLst/>
          </a:prstGeom>
          <a:solidFill>
            <a:srgbClr val="B45309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90088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B45309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069080" y="6108192"/>
            <a:ext cx="182880" cy="182880"/>
          </a:xfrm>
          <a:prstGeom prst="rect">
            <a:avLst/>
          </a:prstGeom>
          <a:solidFill>
            <a:srgbClr val="B91C1C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06824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B91C1C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385816" y="6108192"/>
            <a:ext cx="182880" cy="182880"/>
          </a:xfrm>
          <a:prstGeom prst="rect">
            <a:avLst/>
          </a:prstGeom>
          <a:solidFill>
            <a:srgbClr val="7C2D1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23560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red 7C2D12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702552" y="6108192"/>
            <a:ext cx="182880" cy="182880"/>
          </a:xfrm>
          <a:prstGeom prst="rect">
            <a:avLst/>
          </a:prstGeom>
          <a:solidFill>
            <a:srgbClr val="0F6B7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40296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0F6B72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019288" y="6108192"/>
            <a:ext cx="182880" cy="182880"/>
          </a:xfrm>
          <a:prstGeom prst="rect">
            <a:avLst/>
          </a:prstGeom>
          <a:solidFill>
            <a:srgbClr val="1D4ED8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57032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1D4ED8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9336024" y="6108192"/>
            <a:ext cx="182880" cy="182880"/>
          </a:xfrm>
          <a:prstGeom prst="rect">
            <a:avLst/>
          </a:prstGeom>
          <a:solidFill>
            <a:srgbClr val="7C3AED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73768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7C3AED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0652760" y="6108192"/>
            <a:ext cx="182880" cy="182880"/>
          </a:xfrm>
          <a:prstGeom prst="rect">
            <a:avLst/>
          </a:prstGeom>
          <a:solidFill>
            <a:srgbClr val="4B5563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890504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4B5563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66928" y="6382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435608" y="6364224"/>
            <a:ext cx="182880" cy="182880"/>
          </a:xfrm>
          <a:prstGeom prst="rect">
            <a:avLst/>
          </a:prstGeom>
          <a:solidFill>
            <a:srgbClr val="E8F3EC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7335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E8F3EC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172968" y="6364224"/>
            <a:ext cx="182880" cy="182880"/>
          </a:xfrm>
          <a:prstGeom prst="rect">
            <a:avLst/>
          </a:prstGeom>
          <a:solidFill>
            <a:srgbClr val="FFF2CC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1071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risk/Delayed FFF2CC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910328" y="6364224"/>
            <a:ext cx="182880" cy="182880"/>
          </a:xfrm>
          <a:prstGeom prst="rect">
            <a:avLst/>
          </a:prstGeom>
          <a:solidFill>
            <a:srgbClr val="FBEAEA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4807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track FBEAEA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647688" y="6364224"/>
            <a:ext cx="182880" cy="182880"/>
          </a:xfrm>
          <a:prstGeom prst="rect">
            <a:avLst/>
          </a:prstGeom>
          <a:solidFill>
            <a:srgbClr val="E2F0D9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8543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E2F0D9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385048" y="6364224"/>
            <a:ext cx="182880" cy="182880"/>
          </a:xfrm>
          <a:prstGeom prst="rect">
            <a:avLst/>
          </a:prstGeom>
          <a:solidFill>
            <a:srgbClr val="DEEB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62279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DEEBF7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0122408" y="6364224"/>
            <a:ext cx="182880" cy="182880"/>
          </a:xfrm>
          <a:prstGeom prst="rect">
            <a:avLst/>
          </a:prstGeom>
          <a:solidFill>
            <a:srgbClr val="EEF0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36015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EEF0F2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2026-07-28T00:54:53Z</dcterms:created>
  <dcterms:modified xsi:type="dcterms:W3CDTF">2026-07-28T00:54:53Z</dcterms:modified>
</cp:coreProperties>
</file>